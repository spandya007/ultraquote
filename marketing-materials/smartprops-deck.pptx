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2194560"/>
            <a:ext cx="6400800" cy="6400800"/>
          </a:xfrm>
          <a:prstGeom prst="ellipse">
            <a:avLst/>
          </a:prstGeom>
          <a:solidFill>
            <a:srgbClr val="4D7C0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2011680"/>
            <a:ext cx="4572000" cy="4572000"/>
          </a:xfrm>
          <a:prstGeom prst="ellipse">
            <a:avLst/>
          </a:prstGeom>
          <a:solidFill>
            <a:srgbClr val="65A30D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6400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4D7C0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640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53312" y="640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SmartProps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68680" y="2057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9D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PROPOSALS &amp; PRICING SOFTWARE  ·  NOW IN PRIVATE BETA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Proposals your clients
</a:t>
            </a:r>
            <a:pPr indent="0" marL="0">
              <a:lnSpc>
                <a:spcPct val="100000"/>
              </a:lnSpc>
              <a:buNone/>
            </a:pPr>
            <a:r>
              <a:rPr lang="en-US" sz="5000" b="1" dirty="0">
                <a:solidFill>
                  <a:srgbClr val="8FC2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 in minutes.</a:t>
            </a:r>
            <a:endParaRPr lang="en-US" sz="5000" dirty="0"/>
          </a:p>
        </p:txBody>
      </p:sp>
      <p:sp>
        <p:nvSpPr>
          <p:cNvPr id="9" name="Text 7"/>
          <p:cNvSpPr/>
          <p:nvPr/>
        </p:nvSpPr>
        <p:spPr>
          <a:xfrm>
            <a:off x="868680" y="448056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all-in-one platform for any team that sends proposals — build multi-option pricing, let AI draft polished proposals in your brand voice, and collect legally-binding e-signatures — for one team or a whole organization.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68680" y="6035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hello@smartprops.io   ·   app.smartprops.io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6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Building proposals is slow, manual, and scattered across tools.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2606040" cy="3108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148840"/>
            <a:ext cx="2606040" cy="82296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51560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Disconnected tools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51560" y="37033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spreadsheet for pricing, Word for the proposal, and a third app for signatures — copy-pasted by hand every time.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611880" y="2148840"/>
            <a:ext cx="2606040" cy="3108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11880" y="2148840"/>
            <a:ext cx="2606040" cy="82296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/>
          <p:nvPr/>
        </p:nvSpPr>
        <p:spPr>
          <a:xfrm>
            <a:off x="384048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840480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Pricing errors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840480" y="37033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totals, tax, and discounts mean costly mistakes that slip into client-facing proposals.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0" y="2148840"/>
            <a:ext cx="2606040" cy="3108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0" y="2148840"/>
            <a:ext cx="2606040" cy="82296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6" name="Text 14"/>
          <p:cNvSpPr/>
          <p:nvPr/>
        </p:nvSpPr>
        <p:spPr>
          <a:xfrm>
            <a:off x="662940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629400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Slow turnaround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629400" y="37033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of back-and-forth, printing, and scanning before a deal is signed — momentum lost.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189720" y="2148840"/>
            <a:ext cx="2606040" cy="3108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89720" y="2148840"/>
            <a:ext cx="2606040" cy="82296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1" name="Text 19"/>
          <p:cNvSpPr/>
          <p:nvPr/>
        </p:nvSpPr>
        <p:spPr>
          <a:xfrm>
            <a:off x="941832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9418320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visibility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418320" y="37033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 proposal is sent, it disappears into an inbox. No idea if it was opened, let alone won.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D64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lose deals to whoever responds first — not whoever proposes best.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8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6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workflow: catalog → proposal → signature.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178308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SmartProps replaces the spreadsheet, the Word template, and the signing tool with a single, branded workflow built for how modern teams sell.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42900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43000" y="3063240"/>
            <a:ext cx="777240" cy="777240"/>
          </a:xfrm>
          <a:prstGeom prst="ellipse">
            <a:avLst/>
          </a:prstGeom>
          <a:solidFill>
            <a:srgbClr val="65A30D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30632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143000" y="40233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143000" y="452628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Multi-option pricing from your product catalog with tiers, setup fees, discounts, tax &amp; margins — calculated instantly.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80560" y="2743200"/>
            <a:ext cx="342900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00600" y="3063240"/>
            <a:ext cx="777240" cy="777240"/>
          </a:xfrm>
          <a:prstGeom prst="ellipse">
            <a:avLst/>
          </a:prstGeom>
          <a:solidFill>
            <a:srgbClr val="65A30D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30632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800600" y="40233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Write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4800600" y="452628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 the whole proposal from your pricing, in your brand voice — in a rich editor with your branding, two-column layouts, and live pricing.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38160" y="2743200"/>
            <a:ext cx="342900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58200" y="3063240"/>
            <a:ext cx="777240" cy="777240"/>
          </a:xfrm>
          <a:prstGeom prst="ellipse">
            <a:avLst/>
          </a:prstGeom>
          <a:solidFill>
            <a:srgbClr val="65A30D"/>
          </a:solidFill>
          <a:ln/>
        </p:spPr>
      </p:sp>
      <p:sp>
        <p:nvSpPr>
          <p:cNvPr id="17" name="Text 15"/>
          <p:cNvSpPr/>
          <p:nvPr/>
        </p:nvSpPr>
        <p:spPr>
          <a:xfrm>
            <a:off x="8458200" y="30632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458200" y="40233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 &amp; Win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8458200" y="452628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for e-signature, track status live from sent → viewed → signed, and watch your pipeline on a real dashboard.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6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229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Everything you need to propose like a pro.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783080"/>
            <a:ext cx="34747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783080"/>
            <a:ext cx="82296" cy="1325880"/>
          </a:xfrm>
          <a:prstGeom prst="rect">
            <a:avLst/>
          </a:prstGeom>
          <a:solidFill>
            <a:srgbClr val="65A30D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19476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 catalog &amp; tiers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" y="235000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via CSV; price with multiple tiers, setup fees &amp; billing periods.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80560" y="1783080"/>
            <a:ext cx="34747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80560" y="1783080"/>
            <a:ext cx="82296" cy="1325880"/>
          </a:xfrm>
          <a:prstGeom prst="rect">
            <a:avLst/>
          </a:prstGeom>
          <a:solidFill>
            <a:srgbClr val="65A30D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19476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Multi-option scenarios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754880" y="235000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Good / Better / Best side-by-side; star a recommended pick.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38160" y="1783080"/>
            <a:ext cx="34747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38160" y="1783080"/>
            <a:ext cx="82296" cy="1325880"/>
          </a:xfrm>
          <a:prstGeom prst="rect">
            <a:avLst/>
          </a:prstGeom>
          <a:solidFill>
            <a:srgbClr val="65A30D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0" y="19476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proposal drafting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12480" y="235000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a full proposal from your pricing in your brand voice; edit the outline. Plus inline Ask AI.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22960" y="3264408"/>
            <a:ext cx="34747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3264408"/>
            <a:ext cx="82296" cy="1325880"/>
          </a:xfrm>
          <a:prstGeom prst="rect">
            <a:avLst/>
          </a:prstGeom>
          <a:solidFill>
            <a:srgbClr val="65A30D"/>
          </a:solidFill>
          <a:ln/>
        </p:spPr>
      </p:sp>
      <p:sp>
        <p:nvSpPr>
          <p:cNvPr id="18" name="Text 16"/>
          <p:cNvSpPr/>
          <p:nvPr/>
        </p:nvSpPr>
        <p:spPr>
          <a:xfrm>
            <a:off x="1097280" y="3429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Built-in e-signature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97280" y="3831336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+ counter-sign roles, initials, checkboxes — status flips live.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480560" y="3264408"/>
            <a:ext cx="34747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480560" y="3264408"/>
            <a:ext cx="82296" cy="1325880"/>
          </a:xfrm>
          <a:prstGeom prst="rect">
            <a:avLst/>
          </a:prstGeom>
          <a:solidFill>
            <a:srgbClr val="65A30D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0" y="3429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brand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754880" y="3831336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Logo, accent theme, proposal font, and custom domain. Clients see you.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138160" y="3264408"/>
            <a:ext cx="34747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38160" y="3264408"/>
            <a:ext cx="82296" cy="1325880"/>
          </a:xfrm>
          <a:prstGeom prst="rect">
            <a:avLst/>
          </a:prstGeom>
          <a:solidFill>
            <a:srgbClr val="65A30D"/>
          </a:solidFill>
          <a:ln/>
        </p:spPr>
      </p:sp>
      <p:sp>
        <p:nvSpPr>
          <p:cNvPr id="26" name="Text 24"/>
          <p:cNvSpPr/>
          <p:nvPr/>
        </p:nvSpPr>
        <p:spPr>
          <a:xfrm>
            <a:off x="8412480" y="3429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Templates &amp; import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412480" y="3831336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templates; import from Word or Markdown in one click.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22960" y="4745736"/>
            <a:ext cx="34747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2960" y="4745736"/>
            <a:ext cx="82296" cy="1325880"/>
          </a:xfrm>
          <a:prstGeom prst="rect">
            <a:avLst/>
          </a:prstGeom>
          <a:solidFill>
            <a:srgbClr val="65A30D"/>
          </a:solidFill>
          <a:ln/>
        </p:spPr>
      </p:sp>
      <p:sp>
        <p:nvSpPr>
          <p:cNvPr id="30" name="Text 28"/>
          <p:cNvSpPr/>
          <p:nvPr/>
        </p:nvSpPr>
        <p:spPr>
          <a:xfrm>
            <a:off x="1097280" y="491032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Teams, roles &amp; orgs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097280" y="5312664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Owner/member roles, proposal ownership, presence — and multi-workspace Organizations.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480560" y="4745736"/>
            <a:ext cx="34747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480560" y="4745736"/>
            <a:ext cx="82296" cy="1325880"/>
          </a:xfrm>
          <a:prstGeom prst="rect">
            <a:avLst/>
          </a:prstGeom>
          <a:solidFill>
            <a:srgbClr val="65A30D"/>
          </a:solidFill>
          <a:ln/>
        </p:spPr>
      </p:sp>
      <p:sp>
        <p:nvSpPr>
          <p:cNvPr id="34" name="Text 32"/>
          <p:cNvSpPr/>
          <p:nvPr/>
        </p:nvSpPr>
        <p:spPr>
          <a:xfrm>
            <a:off x="4754880" y="491032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Real-time dashboard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4754880" y="5312664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value, win rate, expiring proposals, recurring revenue at a glance.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138160" y="4745736"/>
            <a:ext cx="34747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38160" y="4745736"/>
            <a:ext cx="82296" cy="1325880"/>
          </a:xfrm>
          <a:prstGeom prst="rect">
            <a:avLst/>
          </a:prstGeom>
          <a:solidFill>
            <a:srgbClr val="65A30D"/>
          </a:solidFill>
          <a:ln/>
        </p:spPr>
      </p:sp>
      <p:sp>
        <p:nvSpPr>
          <p:cNvPr id="38" name="Text 36"/>
          <p:cNvSpPr/>
          <p:nvPr/>
        </p:nvSpPr>
        <p:spPr>
          <a:xfrm>
            <a:off x="8412480" y="491032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Secure by design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412480" y="5312664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isolation, 2FA, password policy &amp; idle auto-logout.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8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6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FEATURED · AI PROPOSAL DRAFTING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229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 AI draft the whole proposal — in your voice.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in your own services, pricing, and client — the AI never invents numbers, and you review every word before it's inserted.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2514600"/>
            <a:ext cx="33832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514600"/>
            <a:ext cx="3383280" cy="82296"/>
          </a:xfrm>
          <a:prstGeom prst="rect">
            <a:avLst/>
          </a:prstGeom>
          <a:solidFill>
            <a:srgbClr val="65A30D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743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D640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· Intake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78992" y="320040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style — tone, length, emphasis. Optionally reference a past proposal to match.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206240" y="3154680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5A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526280" y="2514600"/>
            <a:ext cx="33832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26280" y="2514600"/>
            <a:ext cx="3383280" cy="82296"/>
          </a:xfrm>
          <a:prstGeom prst="rect">
            <a:avLst/>
          </a:prstGeom>
          <a:solidFill>
            <a:srgbClr val="65A30D"/>
          </a:solidFill>
          <a:ln/>
        </p:spPr>
      </p:sp>
      <p:sp>
        <p:nvSpPr>
          <p:cNvPr id="12" name="Text 10"/>
          <p:cNvSpPr/>
          <p:nvPr/>
        </p:nvSpPr>
        <p:spPr>
          <a:xfrm>
            <a:off x="4782312" y="2743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D640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· Outline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782312" y="320040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proposes a section outline tailored to the deal. Rename, reorder, add, or remove.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909560" y="3154680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5A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8229600" y="2514600"/>
            <a:ext cx="33832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29600" y="2514600"/>
            <a:ext cx="3383280" cy="82296"/>
          </a:xfrm>
          <a:prstGeom prst="rect">
            <a:avLst/>
          </a:prstGeom>
          <a:solidFill>
            <a:srgbClr val="65A30D"/>
          </a:solidFill>
          <a:ln/>
        </p:spPr>
      </p:sp>
      <p:sp>
        <p:nvSpPr>
          <p:cNvPr id="17" name="Text 15"/>
          <p:cNvSpPr/>
          <p:nvPr/>
        </p:nvSpPr>
        <p:spPr>
          <a:xfrm>
            <a:off x="8485632" y="2743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D640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· Draft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85632" y="320040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writes every section in your brand voice, ending with an e-sign call to action.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2960" y="461772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7C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as your business — your Proposal Voice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263640" y="461772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7C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your private Client Notes to target pain points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22960" y="5093208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7C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pricing scenarios directly — no re-keying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263640" y="5093208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7C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&amp; edit before anything is inserted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822960" y="57150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64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inline “Ask AI” to improve, expand, shorten, or re-tone any selection.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6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steps from inquiry to signed contract.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468880"/>
            <a:ext cx="2606040" cy="26517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651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051560" y="3520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pricing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51560" y="402336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products from your catalog, add scenarios, and apply per-line discounts.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11880" y="2468880"/>
            <a:ext cx="2606040" cy="26517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2651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840480" y="3520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Write the proposal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840480" y="402336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AI draft it in your brand voice; drop in live pricing; brand it.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0" y="2468880"/>
            <a:ext cx="2606040" cy="26517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29400" y="2651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6629400" y="3520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Send for signature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29400" y="402336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the PDF, then send. Client signs online; you counter-sign.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89720" y="2468880"/>
            <a:ext cx="2606040" cy="26517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18320" y="2651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9418320" y="3520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Track &amp; win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418320" y="402336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status flip in real time and manage pipeline on the dashboard.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6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31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only pay for documents that get signed.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Proposals are always unlimited. We meter only completed (fully-signed) documents.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84632" y="1965960"/>
            <a:ext cx="201168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84632" y="1965960"/>
            <a:ext cx="2011680" cy="73152"/>
          </a:xfrm>
          <a:prstGeom prst="rect">
            <a:avLst/>
          </a:prstGeom>
          <a:solidFill>
            <a:srgbClr val="65A30D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22402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Pay-per-use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67512" y="262432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$9</a:t>
            </a:r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/ signed doc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67512" y="322783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6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 base · pay as you go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67512" y="3611880"/>
            <a:ext cx="1645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user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proposals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features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commitment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79776" y="1965960"/>
            <a:ext cx="201168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79776" y="1965960"/>
            <a:ext cx="2011680" cy="73152"/>
          </a:xfrm>
          <a:prstGeom prst="rect">
            <a:avLst/>
          </a:prstGeom>
          <a:solidFill>
            <a:srgbClr val="65A30D"/>
          </a:solidFill>
          <a:ln/>
        </p:spPr>
      </p:sp>
      <p:sp>
        <p:nvSpPr>
          <p:cNvPr id="13" name="Text 11"/>
          <p:cNvSpPr/>
          <p:nvPr/>
        </p:nvSpPr>
        <p:spPr>
          <a:xfrm>
            <a:off x="2962656" y="22402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962656" y="262432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$30</a:t>
            </a:r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/ mo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2962656" y="322783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6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signed docs / mo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962656" y="3611880"/>
            <a:ext cx="1645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user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 / extra doc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proposals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features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74920" y="1965960"/>
            <a:ext cx="201168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74920" y="1965960"/>
            <a:ext cx="2011680" cy="73152"/>
          </a:xfrm>
          <a:prstGeom prst="rect">
            <a:avLst/>
          </a:prstGeom>
          <a:solidFill>
            <a:srgbClr val="65A30D"/>
          </a:solidFill>
          <a:ln/>
        </p:spPr>
      </p:sp>
      <p:sp>
        <p:nvSpPr>
          <p:cNvPr id="19" name="Text 17"/>
          <p:cNvSpPr/>
          <p:nvPr/>
        </p:nvSpPr>
        <p:spPr>
          <a:xfrm>
            <a:off x="5257800" y="22402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Standard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257800" y="262432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$50</a:t>
            </a:r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/ mo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257800" y="322783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6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signed docs / mo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257800" y="3611880"/>
            <a:ext cx="1645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users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 / extra doc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Starter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370064" y="1783080"/>
            <a:ext cx="2011680" cy="39776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370064" y="19476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POPULAR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552944" y="22860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552944" y="267004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$80</a:t>
            </a:r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/ mo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7552944" y="327355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signed docs / mo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552944" y="3657600"/>
            <a:ext cx="1645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users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 / extra doc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Standard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665208" y="1965960"/>
            <a:ext cx="201168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665208" y="1965960"/>
            <a:ext cx="2011680" cy="73152"/>
          </a:xfrm>
          <a:prstGeom prst="rect">
            <a:avLst/>
          </a:prstGeom>
          <a:solidFill>
            <a:srgbClr val="65A30D"/>
          </a:solidFill>
          <a:ln/>
        </p:spPr>
      </p:sp>
      <p:sp>
        <p:nvSpPr>
          <p:cNvPr id="31" name="Text 29"/>
          <p:cNvSpPr/>
          <p:nvPr/>
        </p:nvSpPr>
        <p:spPr>
          <a:xfrm>
            <a:off x="9848088" y="22402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Ultra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9848088" y="262432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$150</a:t>
            </a:r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/ mo</a:t>
            </a:r>
            <a:endParaRPr lang="en-US" sz="2800" dirty="0"/>
          </a:p>
        </p:txBody>
      </p:sp>
      <p:sp>
        <p:nvSpPr>
          <p:cNvPr id="33" name="Text 31"/>
          <p:cNvSpPr/>
          <p:nvPr/>
        </p:nvSpPr>
        <p:spPr>
          <a:xfrm>
            <a:off x="9848088" y="322783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6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signed docs / mo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9848088" y="3611880"/>
            <a:ext cx="1645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users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 / extra doc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per-doc rate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Pro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$3 per completed document beyond your plan's monthly included docs — any plan, never a hard cap. Users are fixed per plan (no seat add-ons); AI proposal drafting is included on every plan. Annual billing (~2 months free). Pricing is being finalized during beta — contact hello@smartprops.io.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D7C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00400"/>
            <a:ext cx="6400800" cy="6400800"/>
          </a:xfrm>
          <a:prstGeom prst="ellipse">
            <a:avLst/>
          </a:prstGeom>
          <a:solidFill>
            <a:srgbClr val="3D640D">
              <a:alpha val="5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686800" y="-2743200"/>
            <a:ext cx="6400800" cy="6400800"/>
          </a:xfrm>
          <a:prstGeom prst="ellipse">
            <a:avLst/>
          </a:prstGeom>
          <a:solidFill>
            <a:srgbClr val="65A30D">
              <a:alpha val="5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7315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731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D7C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53312" y="7315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SmartProps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237744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Ready to send proposals that close?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68680" y="39319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the teams building faster, more professional proposals with SmartProps.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2F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in private beta — request your early-access invite.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68680" y="5120640"/>
            <a:ext cx="310896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51206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64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access  →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868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F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hello@smartprops.io     ·     app.smartprops.io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SmartProps — Proposals &amp; Pricing Software</dc:title>
  <dc:subject>PptxGenJS Presentation</dc:subject>
  <dc:creator>SmartProps</dc:creator>
  <cp:lastModifiedBy>SmartProps</cp:lastModifiedBy>
  <cp:revision>1</cp:revision>
  <dcterms:created xsi:type="dcterms:W3CDTF">2026-07-22T00:21:03Z</dcterms:created>
  <dcterms:modified xsi:type="dcterms:W3CDTF">2026-07-22T00:21:03Z</dcterms:modified>
</cp:coreProperties>
</file>